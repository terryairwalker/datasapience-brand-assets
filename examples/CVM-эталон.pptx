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embeddedFontLst>
    <p:embeddedFont>
      <p:font typeface="Unbounded"/>
      <p:regular r:id="rIdFont1"/>
      <p:bold r:id="rIdFont2"/>
    </p:embeddedFont>
    <p:embeddedFont>
      <p:font typeface="Ping LCG"/>
      <p:regular r:id="rIdFont3"/>
      <p:bold r:id="rId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844800"/>
            <a:ext cx="9436100" cy="108803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Unbounded"/>
              </a:rPr>
              <a:t>Customer Value Management in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085233"/>
            <a:ext cx="8420100" cy="62527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FE8F0"/>
                </a:solidFill>
                <a:latin typeface="Ping LCG"/>
              </a:rPr>
              <a:t>From data integration to real-time Next Best Action — a staged, data-driven path to growing customer lifetime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5969000"/>
            <a:ext cx="4797425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C4D0"/>
                </a:solidFill>
                <a:latin typeface="Ping LCG"/>
              </a:rPr>
              <a:t>MarTech &amp; CVM transformation · reference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471805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F9AAB"/>
                </a:solidFill>
                <a:latin typeface="Ping LCG"/>
              </a:rPr>
              <a:t>A management discipline, not a single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Key Points of the CVM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90700"/>
            <a:ext cx="10706100" cy="518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A4D55"/>
                </a:solidFill>
                <a:latin typeface="Ping LCG"/>
              </a:rPr>
              <a:t>CVM grows customer lifetime value, product penetration and retention through data-driven decisions — built on five pillars that revolve around the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850" y="3143250"/>
            <a:ext cx="21780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4158"/>
                </a:solidFill>
                <a:latin typeface="Unbounded"/>
              </a:rPr>
              <a:t>Data Integration &amp;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850" y="3606800"/>
            <a:ext cx="217805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Unify transactions, CRM, digital and contextual data into one customer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0300" y="3143250"/>
            <a:ext cx="21780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4158"/>
                </a:solidFill>
                <a:latin typeface="Unbounded"/>
              </a:rPr>
              <a:t>Omni-Channel Campaigns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0300" y="3606800"/>
            <a:ext cx="217805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Segment by behaviour and product, then personalise across every channel.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3143250"/>
            <a:ext cx="21780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4158"/>
                </a:solidFill>
                <a:latin typeface="Unbounded"/>
              </a:rPr>
              <a:t>Advanced Analytics — AI &amp; Big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3606800"/>
            <a:ext cx="217805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Propensity, churn and preference models predict what each client needs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3200" y="3143250"/>
            <a:ext cx="2178050" cy="4000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4158"/>
                </a:solidFill>
                <a:latin typeface="Unbounded"/>
              </a:rPr>
              <a:t>BI, Reporting &amp; Test-and-Learn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3200" y="3606800"/>
            <a:ext cx="217805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Dashboards and target-vs-control uplift to measure and iterate.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1000" y="4743450"/>
            <a:ext cx="380365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Unbounded"/>
              </a:rPr>
              <a:t>Customer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4692650"/>
            <a:ext cx="4864100" cy="406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FE9F0"/>
                </a:solidFill>
                <a:latin typeface="Ping LCG"/>
              </a:rPr>
              <a:t>The fifth pillar at the centre — lifecycle orchestration wraps every capability around the customer.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473700"/>
            <a:ext cx="114046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9AAB"/>
                </a:solidFill>
                <a:latin typeface="Unbounded"/>
              </a:rPr>
              <a:t>Customer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750" y="5797550"/>
            <a:ext cx="16002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4158"/>
                </a:solidFill>
                <a:latin typeface="Ping LCG"/>
              </a:rPr>
              <a:t>Acquisition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8350" y="5797550"/>
            <a:ext cx="17145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4158"/>
                </a:solidFill>
                <a:latin typeface="Ping LCG"/>
              </a:rPr>
              <a:t>Onboarding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0250" y="5797550"/>
            <a:ext cx="178435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4158"/>
                </a:solidFill>
                <a:latin typeface="Ping LCG"/>
              </a:rPr>
              <a:t>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797550"/>
            <a:ext cx="21590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4158"/>
                </a:solidFill>
                <a:latin typeface="Ping LCG"/>
              </a:rPr>
              <a:t>Base monetization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5797550"/>
            <a:ext cx="217805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4158"/>
                </a:solidFill>
                <a:latin typeface="Ping LCG"/>
              </a:rPr>
              <a:t>Proactive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3850" y="5797550"/>
            <a:ext cx="20574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4158"/>
                </a:solidFill>
                <a:latin typeface="Ping LCG"/>
              </a:rPr>
              <a:t>Churn prevention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650" y="5797550"/>
            <a:ext cx="150495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4158"/>
                </a:solidFill>
                <a:latin typeface="Ping LCG"/>
              </a:rPr>
              <a:t>Win-back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750" y="6197600"/>
            <a:ext cx="19939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4158"/>
                </a:solidFill>
                <a:latin typeface="Ping LCG"/>
              </a:rPr>
              <a:t>CX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46228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E6F80"/>
                </a:solidFill>
                <a:latin typeface="Ping LCG"/>
              </a:rPr>
              <a:t>A four-year maturity path within MarTech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Baseline of CVM Transformation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" y="2038350"/>
            <a:ext cx="1847850" cy="273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Unbounded"/>
              </a:rPr>
              <a:t>CVM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2108200"/>
            <a:ext cx="12509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9D7E2"/>
                </a:solidFill>
                <a:latin typeface="Ping LCG"/>
              </a:rPr>
              <a:t>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2552700"/>
            <a:ext cx="2238375" cy="38556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Unbounded"/>
              </a:rPr>
              <a:t>Experience &amp; hypotheses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100" y="3052564"/>
            <a:ext cx="300990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4158"/>
                </a:solidFill>
                <a:latin typeface="Ping LCG"/>
              </a:rPr>
              <a:t>1–2 use cases · basic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401814"/>
            <a:ext cx="215900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Marketing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639245"/>
            <a:ext cx="245110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Campaign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876675"/>
            <a:ext cx="256540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Simple outbound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1725" y="2038350"/>
            <a:ext cx="1905000" cy="273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Unbounded"/>
              </a:rPr>
              <a:t>CVM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6625" y="2108200"/>
            <a:ext cx="12636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9D7E2"/>
                </a:solidFill>
                <a:latin typeface="Ping LCG"/>
              </a:rP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1725" y="2552700"/>
            <a:ext cx="3089275" cy="2118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Unbounded"/>
              </a:rPr>
              <a:t>Data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2375" y="2878832"/>
            <a:ext cx="290195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4158"/>
                </a:solidFill>
                <a:latin typeface="Ping LCG"/>
              </a:rPr>
              <a:t>10–15 use cases · micro-segments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5075" y="3228082"/>
            <a:ext cx="25590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Master data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5075" y="3465512"/>
            <a:ext cx="229870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App &amp; web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5075" y="3702943"/>
            <a:ext cx="15176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ModelOps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5075" y="3940373"/>
            <a:ext cx="23558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Systematic Test &amp; 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2038350"/>
            <a:ext cx="1905000" cy="273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Unbounded"/>
              </a:rPr>
              <a:t>CVM 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4900" y="2108200"/>
            <a:ext cx="12700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9D7E2"/>
                </a:solidFill>
                <a:latin typeface="Ping LCG"/>
              </a:rPr>
              <a:t>Year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2552700"/>
            <a:ext cx="2238375" cy="38556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Unbounded"/>
              </a:rPr>
              <a:t>Real-time &amp; Next Best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0650" y="3052564"/>
            <a:ext cx="256540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4158"/>
                </a:solidFill>
                <a:latin typeface="Ping LCG"/>
              </a:rPr>
              <a:t>50+ use cases · benchmarks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350" y="3401814"/>
            <a:ext cx="26225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Real-time marketing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350" y="3639245"/>
            <a:ext cx="20256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Inbound 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350" y="3876675"/>
            <a:ext cx="19621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Trigger showcase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350" y="4114105"/>
            <a:ext cx="14414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CEP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8275" y="2038350"/>
            <a:ext cx="1911350" cy="273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Unbounded"/>
              </a:rPr>
              <a:t>CVM 4.0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9525" y="2108200"/>
            <a:ext cx="12827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9D7E2"/>
                </a:solidFill>
                <a:latin typeface="Ping LCG"/>
              </a:rPr>
              <a:t>Year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8275" y="2552700"/>
            <a:ext cx="2238375" cy="38556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Unbounded"/>
              </a:rPr>
              <a:t>Data &amp; product ecosystem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8925" y="3052564"/>
            <a:ext cx="276860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4158"/>
                </a:solidFill>
                <a:latin typeface="Ping LCG"/>
              </a:rPr>
              <a:t>100+ use cases · partner offers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1625" y="3401814"/>
            <a:ext cx="24447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3rd-party &amp; partner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1625" y="3639245"/>
            <a:ext cx="28257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Loyalty &amp; engagement engines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625" y="3876675"/>
            <a:ext cx="16319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Partner APIs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1625" y="4114105"/>
            <a:ext cx="1695450" cy="205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Gamification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53700" y="5892800"/>
            <a:ext cx="16129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Maturity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471805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F9AAB"/>
                </a:solidFill>
                <a:latin typeface="Ping LCG"/>
              </a:rPr>
              <a:t>The first practical step of CVM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Start with Batch Campaigns &amp;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4950" y="2266950"/>
            <a:ext cx="47625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4158"/>
                </a:solidFill>
                <a:latin typeface="Unbounded"/>
              </a:rPr>
              <a:t>Single tool, central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4950" y="2505075"/>
            <a:ext cx="3911600" cy="5979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64F"/>
                </a:solidFill>
                <a:latin typeface="Ping LCG"/>
              </a:rPr>
              <a:t>Plan, segment, execute and report in one place — less manual coordination, lower time-to-market, less IT dependence.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4950" y="3560266"/>
            <a:ext cx="47625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4158"/>
                </a:solidFill>
                <a:latin typeface="Unbounded"/>
              </a:rPr>
              <a:t>Built-in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4950" y="3798391"/>
            <a:ext cx="3911600" cy="41136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64F"/>
                </a:solidFill>
                <a:latin typeface="Ping LCG"/>
              </a:rPr>
              <a:t>Operational and analytical reports are automated — fewer errors, clearer insight into what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4666952"/>
            <a:ext cx="47625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4158"/>
                </a:solidFill>
                <a:latin typeface="Unbounded"/>
              </a:rPr>
              <a:t>Easy A/B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4950" y="4905077"/>
            <a:ext cx="3911600" cy="41136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64F"/>
                </a:solidFill>
                <a:latin typeface="Ping LCG"/>
              </a:rPr>
              <a:t>Campaigns become controlled experiments, not one-off activities — a continuous Test &amp; Learn loop.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6150" y="2292350"/>
            <a:ext cx="60452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9AAB"/>
                </a:solidFill>
                <a:latin typeface="Unbounded"/>
              </a:rPr>
              <a:t>Before →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6150" y="2698750"/>
            <a:ext cx="40576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64F"/>
                </a:solidFill>
                <a:latin typeface="Ping LCG"/>
              </a:rPr>
              <a:t>Regular 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6125" y="2698750"/>
            <a:ext cx="9842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95A0"/>
                </a:solidFill>
                <a:latin typeface="Ping LCG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2700" y="2670175"/>
            <a:ext cx="100965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DE969"/>
                </a:solidFill>
                <a:latin typeface="Ping LCG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2925" y="2692400"/>
            <a:ext cx="10731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Ping LCG"/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6150" y="3206750"/>
            <a:ext cx="40576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64F"/>
                </a:solidFill>
                <a:latin typeface="Ping LCG"/>
              </a:rPr>
              <a:t>Experimental campaigns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3900" y="3206750"/>
            <a:ext cx="10287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95A0"/>
                </a:solidFill>
                <a:latin typeface="Ping LCG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2700" y="3178175"/>
            <a:ext cx="100965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DE969"/>
                </a:solidFill>
                <a:latin typeface="Ping LCG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2450" y="3200400"/>
            <a:ext cx="10541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Ping LCG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6150" y="3714750"/>
            <a:ext cx="40576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64F"/>
                </a:solidFill>
                <a:latin typeface="Ping LCG"/>
              </a:rPr>
              <a:t>Time-to-market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8325" y="3714750"/>
            <a:ext cx="13398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95A0"/>
                </a:solidFill>
                <a:latin typeface="Ping LCG"/>
              </a:rPr>
              <a:t>7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2700" y="3686175"/>
            <a:ext cx="100965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DE969"/>
                </a:solidFill>
                <a:latin typeface="Ping LCG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4975" y="3708400"/>
            <a:ext cx="12890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Ping LCG"/>
              </a:rPr>
              <a:t>1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6150" y="4222750"/>
            <a:ext cx="40576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64F"/>
                </a:solidFill>
                <a:latin typeface="Ping LCG"/>
              </a:rPr>
              <a:t>Delayed campaigns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6125" y="4222750"/>
            <a:ext cx="9842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95A0"/>
                </a:solidFill>
                <a:latin typeface="Ping LCG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2700" y="4194175"/>
            <a:ext cx="100965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DE969"/>
                </a:solidFill>
                <a:latin typeface="Ping LCG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7375" y="4216400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Ping LCG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6150" y="4730750"/>
            <a:ext cx="40576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64F"/>
                </a:solidFill>
                <a:latin typeface="Ping LCG"/>
              </a:rPr>
              <a:t>IT staff per 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5650" y="4730750"/>
            <a:ext cx="9652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95A0"/>
                </a:solidFill>
                <a:latin typeface="Ping LCG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2700" y="4702175"/>
            <a:ext cx="100965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DE969"/>
                </a:solidFill>
                <a:latin typeface="Ping LCG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7375" y="4724400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Ping LCG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6150" y="5238750"/>
            <a:ext cx="40576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64F"/>
                </a:solidFill>
                <a:latin typeface="Ping LCG"/>
              </a:rPr>
              <a:t>New campaign setup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8325" y="5238750"/>
            <a:ext cx="133985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95A0"/>
                </a:solidFill>
                <a:latin typeface="Ping LCG"/>
              </a:rPr>
              <a:t>2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2700" y="5210175"/>
            <a:ext cx="100965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DE969"/>
                </a:solidFill>
                <a:latin typeface="Ping LCG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4175" y="5232400"/>
            <a:ext cx="13906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4158"/>
                </a:solidFill>
                <a:latin typeface="Ping LCG"/>
              </a:rPr>
              <a:t>30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48133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E6F80"/>
                </a:solidFill>
                <a:latin typeface="Ping LCG"/>
              </a:rPr>
              <a:t>Reacting to behaviour at the right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Omni-Channel Real-Time 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350" y="2101850"/>
            <a:ext cx="2099072" cy="18474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350" y="2299295"/>
            <a:ext cx="2099072" cy="167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F9AAB"/>
                </a:solidFill>
                <a:latin typeface="Ping LCG"/>
              </a:rPr>
              <a:t>activation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2572" y="2163663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0322" y="2101850"/>
            <a:ext cx="2099171" cy="18474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0322" y="2299295"/>
            <a:ext cx="2099171" cy="167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F9AAB"/>
                </a:solidFill>
                <a:latin typeface="Ping LCG"/>
              </a:rPr>
              <a:t>DAU/MAU · first txn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5643" y="2163663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393" y="2101850"/>
            <a:ext cx="2099072" cy="18474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Monetization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393" y="2299295"/>
            <a:ext cx="2099072" cy="167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F9AAB"/>
                </a:solidFill>
                <a:latin typeface="Ping LCG"/>
              </a:rPr>
              <a:t>spend · balances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8615" y="2163663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6365" y="2101850"/>
            <a:ext cx="2099171" cy="18474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Cross-sell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6365" y="2299295"/>
            <a:ext cx="2099171" cy="167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F9AAB"/>
                </a:solidFill>
                <a:latin typeface="Ping LCG"/>
              </a:rPr>
              <a:t>product 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686" y="2163663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9436" y="2101850"/>
            <a:ext cx="2099072" cy="18474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9436" y="2299295"/>
            <a:ext cx="2099072" cy="167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F9AAB"/>
                </a:solidFill>
                <a:latin typeface="Ping LCG"/>
              </a:rPr>
              <a:t>app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4658" y="2163663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2408" y="2101850"/>
            <a:ext cx="2099171" cy="18474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2408" y="2299295"/>
            <a:ext cx="2099171" cy="167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F9AAB"/>
                </a:solidFill>
                <a:latin typeface="Ping LCG"/>
              </a:rPr>
              <a:t>churn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7729" y="2163663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5479" y="2101850"/>
            <a:ext cx="2099171" cy="18474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Reactivation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5479" y="2299295"/>
            <a:ext cx="2099171" cy="167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F9AAB"/>
                </a:solidFill>
                <a:latin typeface="Ping LCG"/>
              </a:rPr>
              <a:t>win-back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350" y="3308350"/>
            <a:ext cx="6718300" cy="2334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4158"/>
                </a:solidFill>
                <a:latin typeface="Unbounded"/>
              </a:rPr>
              <a:t>What real-time marketing 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350" y="3592612"/>
            <a:ext cx="5867400" cy="67329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64F"/>
                </a:solidFill>
                <a:latin typeface="Ping LCG"/>
              </a:rPr>
              <a:t>Marketing executed in response to current events, trends and behaviour triggers — instead of deciding once a month whom to contact, the bank reacts the moment a customer acts.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350" y="4392910"/>
            <a:ext cx="67183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Behaviour triggers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1100" y="4710410"/>
            <a:ext cx="19177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app registration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9850" y="4710410"/>
            <a:ext cx="23241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process abandonment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5000" y="4710410"/>
            <a:ext cx="20320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balance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100" y="5097760"/>
            <a:ext cx="19177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partner 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9850" y="5097760"/>
            <a:ext cx="1841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product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2400" y="5097760"/>
            <a:ext cx="18605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closure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4000" y="3302000"/>
            <a:ext cx="41910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Unbounded"/>
              </a:rPr>
              <a:t>Example mechanics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9100" y="3670300"/>
            <a:ext cx="227965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Ping LCG"/>
              </a:rPr>
              <a:t>Onboarding chains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9100" y="3962400"/>
            <a:ext cx="184150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Ping LCG"/>
              </a:rPr>
              <a:t>Gamification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9100" y="4254500"/>
            <a:ext cx="228600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Ping LCG"/>
              </a:rPr>
              <a:t>Full-approve offers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9100" y="4546600"/>
            <a:ext cx="2387600" cy="215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Ping LCG"/>
              </a:rPr>
              <a:t>Win-back mechanics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4000" y="4838700"/>
            <a:ext cx="33401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9D7E2"/>
                </a:solidFill>
                <a:latin typeface="Ping LCG"/>
              </a:rPr>
              <a:t>Triggered the instant a customer registers, abandons a flow, nears a threshold or searches for a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561975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F9AAB"/>
                </a:solidFill>
                <a:latin typeface="Ping LCG"/>
              </a:rPr>
              <a:t>A controlled sequence of nudges, checks and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Onboarding —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850" y="2063750"/>
            <a:ext cx="40513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9AAB"/>
                </a:solidFill>
                <a:latin typeface="Unbounded"/>
              </a:rPr>
              <a:t>Customer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850" y="2254250"/>
            <a:ext cx="4051300" cy="2437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4158"/>
                </a:solidFill>
                <a:latin typeface="Unbounded"/>
              </a:rPr>
              <a:t>Expat · 35 y.o.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850" y="2498030"/>
            <a:ext cx="40513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64F"/>
                </a:solidFill>
                <a:latin typeface="Ping LCG"/>
              </a:rPr>
              <a:t>Income $15,000 · urban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8050" y="2025650"/>
            <a:ext cx="221615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F9AAB"/>
                </a:solidFill>
                <a:latin typeface="Unbounded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8050" y="2222500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050" y="2426295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050" y="2630091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Core banking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050" y="2833886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Loyalty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300" y="2025650"/>
            <a:ext cx="221615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F9AAB"/>
                </a:solidFill>
                <a:latin typeface="Unbounded"/>
              </a:rP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300" y="2222500"/>
            <a:ext cx="1365250" cy="3694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Campaign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300" y="2591991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Real-time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550" y="2025650"/>
            <a:ext cx="221615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F9AAB"/>
                </a:solidFill>
                <a:latin typeface="Unbounded"/>
              </a:rPr>
              <a:t>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550" y="2222500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0550" y="2426295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0550" y="2630091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In-app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6800" y="2025650"/>
            <a:ext cx="221615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F9AAB"/>
                </a:solidFill>
                <a:latin typeface="Unbounded"/>
              </a:rPr>
              <a:t>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56800" y="2222500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DAU/MAU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6800" y="2426295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Activation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6800" y="2630091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First transaction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302000"/>
            <a:ext cx="114046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9AAB"/>
                </a:solidFill>
                <a:latin typeface="Unbounded"/>
              </a:rPr>
              <a:t>Communication flow after card issue — each step is auto-checked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" y="4025900"/>
            <a:ext cx="1081881" cy="3123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4158"/>
                </a:solidFill>
                <a:latin typeface="Ping LCG"/>
              </a:rPr>
              <a:t>Product FAQ / landing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3581" y="3899495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5222" y="4025900"/>
            <a:ext cx="1866900" cy="1752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4158"/>
                </a:solidFill>
                <a:latin typeface="Ping LCG"/>
              </a:rPr>
              <a:t>App registration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8512" y="3899495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7003" y="4025900"/>
            <a:ext cx="1473200" cy="1752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4158"/>
                </a:solidFill>
                <a:latin typeface="Ping LCG"/>
              </a:rPr>
              <a:t>PIN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3444" y="3899495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6834" y="4025900"/>
            <a:ext cx="1803400" cy="1752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4158"/>
                </a:solidFill>
                <a:latin typeface="Ping LCG"/>
              </a:rPr>
              <a:t>Balance top-up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8375" y="3899495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1575" y="4025900"/>
            <a:ext cx="1081881" cy="3123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4158"/>
                </a:solidFill>
                <a:latin typeface="Ping LCG"/>
              </a:rPr>
              <a:t>Payment template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3306" y="3899495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6506" y="4025900"/>
            <a:ext cx="1081881" cy="3123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4158"/>
                </a:solidFill>
                <a:latin typeface="Ping LCG"/>
              </a:rPr>
              <a:t>Cashback 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8238" y="3899495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438" y="4025900"/>
            <a:ext cx="1081881" cy="3123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4158"/>
                </a:solidFill>
                <a:latin typeface="Ping LCG"/>
              </a:rPr>
              <a:t>First POS payment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169" y="3899495"/>
            <a:ext cx="98425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6369" y="4025900"/>
            <a:ext cx="1081881" cy="3123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4158"/>
                </a:solidFill>
                <a:latin typeface="Ping LCG"/>
              </a:rPr>
              <a:t>Partner-store payment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" y="5359400"/>
            <a:ext cx="1974850" cy="355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8DE969"/>
                </a:solidFill>
                <a:latin typeface="Unbounded"/>
              </a:rPr>
              <a:t>+10%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0750" y="5430540"/>
            <a:ext cx="1581150" cy="213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Ping LCG"/>
              </a:rPr>
              <a:t>DAU/MAU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7734" y="5359400"/>
            <a:ext cx="2038350" cy="355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8DE969"/>
                </a:solidFill>
                <a:latin typeface="Unbounded"/>
              </a:rPr>
              <a:t>+25%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9484" y="5430540"/>
            <a:ext cx="2000250" cy="213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Ping LCG"/>
              </a:rPr>
              <a:t>activation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066" y="5359400"/>
            <a:ext cx="2082800" cy="355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8DE969"/>
                </a:solidFill>
                <a:latin typeface="Unbounded"/>
              </a:rPr>
              <a:t>+40%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9266" y="5430540"/>
            <a:ext cx="2082800" cy="213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Ping LCG"/>
              </a:rPr>
              <a:t>first transaction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592455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E6F80"/>
                </a:solidFill>
                <a:latin typeface="Ping LCG"/>
              </a:rPr>
              <a:t>Batch, real-time, analytics and channels in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Blueprint MarTech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750" y="2025650"/>
            <a:ext cx="3958134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Unbounded"/>
              </a:rPr>
              <a:t>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2571750"/>
            <a:ext cx="3742234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753320"/>
            <a:ext cx="3742234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CRM · DWH · Web · DMP /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166666"/>
            <a:ext cx="3742234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MDM · Data Quality · ETL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3348236"/>
            <a:ext cx="3742234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Clean, standardise, unify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761581"/>
            <a:ext cx="3742234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Big Data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943152"/>
            <a:ext cx="3742234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Foundation for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356497"/>
            <a:ext cx="3742234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Marketing Datamart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538067"/>
            <a:ext cx="3742234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Customer &amp; product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1384" y="2025650"/>
            <a:ext cx="3958233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Unbounded"/>
              </a:rPr>
              <a:t>CVM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9334" y="2571750"/>
            <a:ext cx="3742333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Data &amp; Text Mining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9334" y="2753320"/>
            <a:ext cx="3742333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Models, propensities,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334" y="3166666"/>
            <a:ext cx="3742333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Campaign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9334" y="3348236"/>
            <a:ext cx="3742333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Planned outbound offers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9334" y="3761581"/>
            <a:ext cx="3742333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Event Processing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9334" y="3943152"/>
            <a:ext cx="3742333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Behaviour &amp; event 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9334" y="4356497"/>
            <a:ext cx="3742333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Real-Time Decision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9334" y="4538067"/>
            <a:ext cx="3742333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Decide the next action instantly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9334" y="4951412"/>
            <a:ext cx="3742333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Marketing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9334" y="5132983"/>
            <a:ext cx="3742333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Budget, capacity &amp; contact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9334" y="5546328"/>
            <a:ext cx="3742333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Loyalty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9334" y="5727898"/>
            <a:ext cx="3742333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Rewards &amp; incentives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16" y="2025650"/>
            <a:ext cx="3958134" cy="234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Unbounded"/>
              </a:rPr>
              <a:t>Delivery &amp; CRM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0066" y="2571750"/>
            <a:ext cx="3742234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Communication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0066" y="2753320"/>
            <a:ext cx="3742234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Routes every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0066" y="3166666"/>
            <a:ext cx="3742234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Channels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066" y="3348236"/>
            <a:ext cx="3742234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SMS · telesales · email · web/mobile · ATM/POS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0066" y="3761581"/>
            <a:ext cx="3742234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CX / CJM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0066" y="3943152"/>
            <a:ext cx="3742234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Journey 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0066" y="4356497"/>
            <a:ext cx="3742234" cy="187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Web analytics &amp; 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0066" y="4538067"/>
            <a:ext cx="3742234" cy="1783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7079"/>
                </a:solidFill>
                <a:latin typeface="Ping LCG"/>
              </a:rPr>
              <a:t>Surveys, reactions, CEM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4025" y="3863975"/>
            <a:ext cx="1035050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2575" y="3863975"/>
            <a:ext cx="1035050" cy="311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54483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9FC4D0"/>
                </a:solidFill>
                <a:latin typeface="Ping LCG"/>
              </a:rPr>
              <a:t>Connecting economics, operations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Unbounded"/>
              </a:rPr>
              <a:t>Components of Successful CVM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05000"/>
            <a:ext cx="192405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Unbounded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2150" y="1927225"/>
            <a:ext cx="1047750" cy="355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FC4D0"/>
                </a:solidFill>
                <a:latin typeface="Unbounded"/>
              </a:rPr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05000"/>
            <a:ext cx="243205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8DE969"/>
                </a:solidFill>
                <a:latin typeface="Unbounded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4150" y="1927225"/>
            <a:ext cx="1047750" cy="355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FC4D0"/>
                </a:solidFill>
                <a:latin typeface="Unbounded"/>
              </a:rP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00" y="1905000"/>
            <a:ext cx="178435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FB0C2"/>
                </a:solidFill>
                <a:latin typeface="Unbounded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1914525"/>
            <a:ext cx="901700" cy="330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FC4D0"/>
                </a:solidFill>
                <a:latin typeface="Ping LCG"/>
              </a:rPr>
              <a:t>Revenue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0" y="1981200"/>
            <a:ext cx="163195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FF0BD"/>
                </a:solidFill>
                <a:latin typeface="Ping LCG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4600" y="1981200"/>
            <a:ext cx="14986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FF0BD"/>
                </a:solidFill>
                <a:latin typeface="Ping LCG"/>
              </a:rP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0600" y="1981200"/>
            <a:ext cx="131445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FF0BD"/>
                </a:solidFill>
                <a:latin typeface="Ping LCG"/>
              </a:rPr>
              <a:t>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2450" y="1981200"/>
            <a:ext cx="14478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FF0BD"/>
                </a:solidFill>
                <a:latin typeface="Ping LCG"/>
              </a:rPr>
              <a:t>Lifetime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87600"/>
            <a:ext cx="1568450" cy="1841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FC4D0"/>
                </a:solidFill>
                <a:latin typeface="Ping LCG"/>
              </a:rPr>
              <a:t>Cost to cut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5100" y="2381250"/>
            <a:ext cx="16002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C4D0"/>
                </a:solidFill>
                <a:latin typeface="Ping LCG"/>
              </a:rPr>
              <a:t>Campaign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2700" y="2381250"/>
            <a:ext cx="17145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C4D0"/>
                </a:solidFill>
                <a:latin typeface="Ping LCG"/>
              </a:rPr>
              <a:t>Operational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4600" y="2381250"/>
            <a:ext cx="112395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C4D0"/>
                </a:solidFill>
                <a:latin typeface="Ping LCG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5950" y="2381250"/>
            <a:ext cx="13843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C4D0"/>
                </a:solidFill>
                <a:latin typeface="Ping LCG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3350" y="3155950"/>
            <a:ext cx="2654300" cy="3885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Unbounded"/>
              </a:rPr>
              <a:t>Batch Campaigns &amp; Data Marts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850" y="3582591"/>
            <a:ext cx="309880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Ping LCG"/>
              </a:rPr>
              <a:t>More automated campaigns, regular Test &amp; Learn, lower time-to-market.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150" y="3233440"/>
            <a:ext cx="3155950" cy="213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Unbounded"/>
              </a:rPr>
              <a:t>Real-Time &amp; Clickstream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5650" y="3562350"/>
            <a:ext cx="309880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Ping LCG"/>
              </a:rPr>
              <a:t>Lift card usage and inbound conversion by reacting in real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6950" y="3233440"/>
            <a:ext cx="2806700" cy="213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Unbounded"/>
              </a:rPr>
              <a:t>Advanced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2450" y="3562350"/>
            <a:ext cx="309880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Ping LCG"/>
              </a:rPr>
              <a:t>Uplift, propensity and customer-agent matching models.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3350" y="4433491"/>
            <a:ext cx="2654300" cy="3885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Unbounded"/>
              </a:rPr>
              <a:t>Marketing Optimization · NBA/NBO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850" y="4860131"/>
            <a:ext cx="309880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Ping LCG"/>
              </a:rPr>
              <a:t>Optimise offers under budget, capacity, risk and contact limits.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150" y="4510980"/>
            <a:ext cx="2908300" cy="213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Unbounded"/>
              </a:rPr>
              <a:t>Customer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5650" y="4839891"/>
            <a:ext cx="309880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Ping LCG"/>
              </a:rPr>
              <a:t>Reduce churn, collect feedback, improve satisfaction.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6950" y="4510980"/>
            <a:ext cx="2336800" cy="213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Unbounded"/>
              </a:rPr>
              <a:t>Process Mining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2450" y="4839891"/>
            <a:ext cx="309880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Ping LCG"/>
              </a:rPr>
              <a:t>Find bottlenecks in flows such as the application process.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5807075"/>
            <a:ext cx="18605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FC4D0"/>
                </a:solidFill>
                <a:latin typeface="Unbounded"/>
              </a:rPr>
              <a:t>Foundations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06600" y="5803900"/>
            <a:ext cx="282575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AE7EF"/>
                </a:solidFill>
                <a:latin typeface="Ping LCG"/>
              </a:rPr>
              <a:t>Data Management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5150" y="5803900"/>
            <a:ext cx="30607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AE7EF"/>
                </a:solidFill>
                <a:latin typeface="Ping LCG"/>
              </a:rPr>
              <a:t>Business Intelligence / 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8650" y="5803900"/>
            <a:ext cx="224155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AE7EF"/>
                </a:solidFill>
                <a:latin typeface="Ping LCG"/>
              </a:rPr>
              <a:t>MLOps environment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4250" y="5737225"/>
            <a:ext cx="2863850" cy="330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FC4D0"/>
                </a:solidFill>
                <a:latin typeface="Ping LCG"/>
              </a:rPr>
              <a:t>Risk integration: pre-approved loans drive cross-sell; limit management lifts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65151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E6F80"/>
                </a:solidFill>
                <a:latin typeface="Ping LCG"/>
              </a:rPr>
              <a:t>From rule-based segmentation to mathematical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Marketing Optimization — NBO / NBA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78000"/>
            <a:ext cx="10706100" cy="518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A4D55"/>
                </a:solidFill>
                <a:latin typeface="Ping LCG"/>
              </a:rPr>
              <a:t>Find the best balance between marketing cost and ROI: which offer, through which channel, for which customer — given all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1175" y="2438400"/>
            <a:ext cx="12827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Unbounded"/>
              </a:rPr>
              <a:t>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7850" y="2438400"/>
            <a:ext cx="133985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Unbounded"/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2950" y="2438400"/>
            <a:ext cx="120015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Unbounded"/>
              </a:rPr>
              <a:t>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575" y="2438400"/>
            <a:ext cx="12954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Unbounded"/>
              </a:rPr>
              <a:t>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25750"/>
            <a:ext cx="180975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Customer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4188" y="2825750"/>
            <a:ext cx="1333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P2 · 820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8962" y="2825750"/>
            <a:ext cx="13081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P1 · 610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8812" y="2832100"/>
            <a:ext cx="13652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P3 · 940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9938" y="2825750"/>
            <a:ext cx="13398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P2 · 780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232150"/>
            <a:ext cx="184785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Customer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7044" y="3232150"/>
            <a:ext cx="13589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P3 · 540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7056" y="3232150"/>
            <a:ext cx="13398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P3 · 720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719" y="3238500"/>
            <a:ext cx="13462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P1 · 880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8031" y="3232150"/>
            <a:ext cx="13652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P4 · 690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638550"/>
            <a:ext cx="184785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Customer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9744" y="3638550"/>
            <a:ext cx="1333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P1 · 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7531" y="3638550"/>
            <a:ext cx="13589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P4 · 650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194" y="3644900"/>
            <a:ext cx="13652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P2 · 990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7081" y="3638550"/>
            <a:ext cx="13271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P1 · 730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4044950"/>
            <a:ext cx="18542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Customer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9425" y="4044950"/>
            <a:ext cx="13652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P4 · 480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1025" y="4044950"/>
            <a:ext cx="13398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P2 · 760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3575" y="4044950"/>
            <a:ext cx="13525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7079"/>
                </a:solidFill>
                <a:latin typeface="Ping LCG"/>
              </a:rPr>
              <a:t>P4 · 620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5175" y="4051300"/>
            <a:ext cx="13398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P3 · 910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381500"/>
            <a:ext cx="73025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7079"/>
                </a:solidFill>
                <a:latin typeface="Ping LCG"/>
              </a:rPr>
              <a:t>Cells = expected value per customer × product × channel. Highlighted = best allocation chosen.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9850" y="2520950"/>
            <a:ext cx="4432300" cy="20458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4158"/>
                </a:solidFill>
                <a:latin typeface="Unbounded"/>
              </a:rPr>
              <a:t>Revenue forecast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9850" y="2738239"/>
            <a:ext cx="358140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Response probability × expected margin (and LTV impact) for every customer-product-channel.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9850" y="3549650"/>
            <a:ext cx="4432300" cy="20458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4158"/>
                </a:solidFill>
                <a:latin typeface="Unbounded"/>
              </a:rPr>
              <a:t>Business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9850" y="3766939"/>
            <a:ext cx="3581400" cy="393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Total budget · channel capacity · required product share · contact policy.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3500" y="4508500"/>
            <a:ext cx="4445000" cy="222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Unbounded"/>
              </a:rPr>
              <a:t>Objective function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3500" y="4756150"/>
            <a:ext cx="4445000" cy="266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DE969"/>
                </a:solidFill>
                <a:latin typeface="Unbounded"/>
              </a:rPr>
              <a:t>max Σ Revenue (c, p, 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3500" y="5048250"/>
            <a:ext cx="3594100" cy="3758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9D7E2"/>
                </a:solidFill>
                <a:latin typeface="Ping LCG"/>
              </a:rPr>
              <a:t>Maximise revenue across all communications, subject to the constraints above.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57658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F9AAB"/>
                </a:solidFill>
                <a:latin typeface="Ping LCG"/>
              </a:rPr>
              <a:t>Ingestion, storage, streaming, SQL and the ML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Open-Source Data Platform &amp;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81200"/>
            <a:ext cx="83185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374900"/>
            <a:ext cx="2349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8900" y="2381250"/>
            <a:ext cx="13271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Jupyter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8050" y="2381250"/>
            <a:ext cx="13970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Superset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7050" y="2381250"/>
            <a:ext cx="11239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Hue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2863850"/>
            <a:ext cx="2349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2870200"/>
            <a:ext cx="17526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Apache Impala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3500" y="2870200"/>
            <a:ext cx="11747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Trino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0250" y="2870200"/>
            <a:ext cx="16573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Apache Spark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282950"/>
            <a:ext cx="1498600" cy="3429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Streaming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900" y="3365500"/>
            <a:ext cx="11303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Flink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1200" y="3365500"/>
            <a:ext cx="12128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6050" y="3365500"/>
            <a:ext cx="14986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ClickHouse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3854450"/>
            <a:ext cx="2349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MPP &amp;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8900" y="3860800"/>
            <a:ext cx="15176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Greenplum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8550" y="3860800"/>
            <a:ext cx="15875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Prometheus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050" y="3860800"/>
            <a:ext cx="13716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1650" y="3860800"/>
            <a:ext cx="15811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OpenSearch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4343400"/>
            <a:ext cx="2349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900" y="4349750"/>
            <a:ext cx="15430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Kubernetes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3950" y="4349750"/>
            <a:ext cx="14668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OpenShift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4832350"/>
            <a:ext cx="2349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Storage &amp;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8900" y="4838700"/>
            <a:ext cx="14414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S3 / MinIO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2350" y="4838700"/>
            <a:ext cx="13271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Iceberg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1500" y="4838700"/>
            <a:ext cx="18161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Trino federation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50" y="5321300"/>
            <a:ext cx="23495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8900" y="5327650"/>
            <a:ext cx="14732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Hardware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4100" y="5327650"/>
            <a:ext cx="156845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4158"/>
                </a:solidFill>
                <a:latin typeface="Ping LCG"/>
              </a:rPr>
              <a:t>Cloud / IaaS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8850" y="2406650"/>
            <a:ext cx="35433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F9AAB"/>
                </a:solidFill>
                <a:latin typeface="Unbounded"/>
              </a:rPr>
              <a:t>Platform 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8550" y="2686050"/>
            <a:ext cx="222885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Cluster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8550" y="2952750"/>
            <a:ext cx="24257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Metadata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8550" y="3219450"/>
            <a:ext cx="17145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Data catalog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8550" y="3486150"/>
            <a:ext cx="22860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Security · LDAP · Ranger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8550" y="3752850"/>
            <a:ext cx="231775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464F"/>
                </a:solidFill>
                <a:latin typeface="Ping LCG"/>
              </a:rPr>
              <a:t>Metastore · PostgreSQL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5562600"/>
            <a:ext cx="11404600" cy="203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4158"/>
                </a:solidFill>
                <a:latin typeface="Unbounded"/>
              </a:rPr>
              <a:t>ModelOps / MLOps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109" y="5905500"/>
            <a:ext cx="2051050" cy="1730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ing LCG"/>
              </a:rPr>
              <a:t>Model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859" y="6059488"/>
            <a:ext cx="1225550" cy="1571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7CCD6"/>
                </a:solidFill>
                <a:latin typeface="Ping LCG"/>
              </a:rPr>
              <a:t>MLflow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3701" y="5905500"/>
            <a:ext cx="1879600" cy="1730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ing LCG"/>
              </a:rPr>
              <a:t>AutoML / no-code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7376" y="6059488"/>
            <a:ext cx="1492250" cy="1571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7CCD6"/>
                </a:solidFill>
                <a:latin typeface="Ping LCG"/>
              </a:rPr>
              <a:t>Data Science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5367" y="5905500"/>
            <a:ext cx="1346200" cy="1730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ing LCG"/>
              </a:rPr>
              <a:t>Training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9342" y="6059488"/>
            <a:ext cx="1238250" cy="1571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7CCD6"/>
                </a:solidFill>
                <a:latin typeface="Ping LCG"/>
              </a:rPr>
              <a:t>Jupyter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1959" y="5905500"/>
            <a:ext cx="1682750" cy="1730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ing LCG"/>
              </a:rPr>
              <a:t>Orchestration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0084" y="6059488"/>
            <a:ext cx="1206500" cy="1571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7CCD6"/>
                </a:solidFill>
                <a:latin typeface="Ping LCG"/>
              </a:rPr>
              <a:t>Airflow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6451" y="5974556"/>
            <a:ext cx="1663700" cy="1730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ing LCG"/>
              </a:rPr>
              <a:t>Feature store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7767" y="5905500"/>
            <a:ext cx="1651000" cy="1730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Ping LCG"/>
              </a:rPr>
              <a:t>Model 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81592" y="6059488"/>
            <a:ext cx="1403350" cy="1571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A7CCD6"/>
                </a:solidFill>
                <a:latin typeface="Ping LCG"/>
              </a:rPr>
              <a:t>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584200"/>
            <a:ext cx="5245100" cy="254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E6F80"/>
                </a:solidFill>
                <a:latin typeface="Ping LCG"/>
              </a:rPr>
              <a:t>Behaviour, risk, pricing and fulfilment in one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11404600" cy="374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4158"/>
                </a:solidFill>
                <a:latin typeface="Unbounded"/>
              </a:rPr>
              <a:t>Cross-Sell —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850" y="2063750"/>
            <a:ext cx="4051300" cy="177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F9AAB"/>
                </a:solidFill>
                <a:latin typeface="Unbounded"/>
              </a:rPr>
              <a:t>Customer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850" y="2254250"/>
            <a:ext cx="4051300" cy="2437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4158"/>
                </a:solidFill>
                <a:latin typeface="Unbounded"/>
              </a:rPr>
              <a:t>Mass segment · 30 y.o.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850" y="2498030"/>
            <a:ext cx="40513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64F"/>
                </a:solidFill>
                <a:latin typeface="Ping LCG"/>
              </a:rPr>
              <a:t>Income $7,500 · rural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8050" y="2025650"/>
            <a:ext cx="221615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F9AAB"/>
                </a:solidFill>
                <a:latin typeface="Unbounded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8050" y="2222500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050" y="2426295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Risk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050" y="2630091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Web / DMP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050" y="2833886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Customer360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300" y="2025650"/>
            <a:ext cx="221615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F9AAB"/>
                </a:solidFill>
                <a:latin typeface="Unbounded"/>
              </a:rP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300" y="2222500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Campaign mgmt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300" y="2426295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Real-time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300" y="2630091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MLOps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300" y="2833886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0550" y="2025650"/>
            <a:ext cx="221615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F9AAB"/>
                </a:solidFill>
                <a:latin typeface="Unbounded"/>
              </a:rPr>
              <a:t>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0550" y="2222500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0550" y="2426295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0550" y="2630091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In-app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6800" y="2025650"/>
            <a:ext cx="221615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F9AAB"/>
                </a:solidFill>
                <a:latin typeface="Unbounded"/>
              </a:rPr>
              <a:t>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6800" y="2222500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Penetration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2426295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Cross-sell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6800" y="2630091"/>
            <a:ext cx="2216150" cy="20379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464F"/>
                </a:solidFill>
                <a:latin typeface="Ping LCG"/>
              </a:rPr>
              <a:t>Churn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086100"/>
            <a:ext cx="11404600" cy="196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9AAB"/>
                </a:solidFill>
                <a:latin typeface="Unbounded"/>
              </a:rPr>
              <a:t>Full-Approve mechanics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591" y="3873500"/>
            <a:ext cx="24257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Purchase-intent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916" y="4102100"/>
            <a:ext cx="2305050" cy="165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7079"/>
                </a:solidFill>
                <a:latin typeface="Ping LCG"/>
              </a:rPr>
              <a:t>web search · major purchase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3780" y="3752850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0020" y="3873500"/>
            <a:ext cx="18034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Online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3645" y="4102100"/>
            <a:ext cx="2216150" cy="165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7079"/>
                </a:solidFill>
                <a:latin typeface="Ping LCG"/>
              </a:rPr>
              <a:t>PD — probability of 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8060" y="3752850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5426" y="3873500"/>
            <a:ext cx="25209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Pricing parameterization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25951" y="4102100"/>
            <a:ext cx="1739900" cy="165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7079"/>
                </a:solidFill>
                <a:latin typeface="Ping LCG"/>
              </a:rPr>
              <a:t>by price elasticity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241" y="3752850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1655" y="3873500"/>
            <a:ext cx="17970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NBO selection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7355" y="4102100"/>
            <a:ext cx="2025650" cy="165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7079"/>
                </a:solidFill>
                <a:latin typeface="Ping LCG"/>
              </a:rPr>
              <a:t>PTB + customer profile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6520" y="3752850"/>
            <a:ext cx="990600" cy="241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9AAB"/>
                </a:solidFill>
                <a:latin typeface="Ping LCG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4785" y="3873500"/>
            <a:ext cx="24193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4158"/>
                </a:solidFill>
                <a:latin typeface="Ping LCG"/>
              </a:rPr>
              <a:t>Deep link to application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8460" y="4102100"/>
            <a:ext cx="2032000" cy="165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7079"/>
                </a:solidFill>
                <a:latin typeface="Ping LCG"/>
              </a:rPr>
              <a:t>pre-filled, ready to 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622800"/>
            <a:ext cx="71120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F9AAB"/>
                </a:solidFill>
                <a:latin typeface="Unbounded"/>
              </a:rPr>
              <a:t>Offer options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750" y="4940300"/>
            <a:ext cx="18097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New cash loan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7900" y="4940300"/>
            <a:ext cx="16827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Loan top-up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8050" y="4940300"/>
            <a:ext cx="193675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New virtual 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2200" y="4940300"/>
            <a:ext cx="21336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4158"/>
                </a:solidFill>
                <a:latin typeface="Ping LCG"/>
              </a:rPr>
              <a:t>Credit-limit increase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2700" y="4673600"/>
            <a:ext cx="187960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DE969"/>
                </a:solidFill>
                <a:latin typeface="Unbounded"/>
              </a:rPr>
              <a:t>+30%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7600" y="4726980"/>
            <a:ext cx="1822450" cy="19804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Ping LCG"/>
              </a:rPr>
              <a:t>cross-sell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2700" y="5295900"/>
            <a:ext cx="176530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DE969"/>
                </a:solidFill>
                <a:latin typeface="Unbounded"/>
              </a:rPr>
              <a:t>+15%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23300" y="5349280"/>
            <a:ext cx="1708150" cy="19804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Ping LCG"/>
              </a:rPr>
              <a:t>penetration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2700" y="5918200"/>
            <a:ext cx="179705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DE969"/>
                </a:solidFill>
                <a:latin typeface="Unbounded"/>
              </a:rPr>
              <a:t>−10%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55050" y="5971580"/>
            <a:ext cx="1600200" cy="19804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Ping LCG"/>
              </a:rPr>
              <a:t>churn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